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Inter"/>
      <p:regular r:id="rId9"/>
      <p:bold r:id="rId10"/>
      <p:boldItalic r:id="rId11"/>
    </p:embeddedFont>
    <p:embeddedFont>
      <p:font typeface="Calibri Light"/>
    </p:embeddedFont>
    <p:embeddedFont>
      <p:font typeface="Petrona Bold"/>
    </p:embeddedFont>
    <p:embeddedFont>
      <p:font typeface="맑은 고딕"/>
    </p:embeddedFont>
    <p:embeddedFont>
      <p:font typeface="-apple-system, BlinkMacSystemFont, Segoe UI, Roboto, Helvetica Neue, Arial, sans-serif Medium"/>
    </p:embeddedFont>
    <p:embeddedFont>
      <p:font typeface="Consola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font" Target="fonts/Font_1_Inter_Regular.fntdata"/><Relationship Id="rId10" Type="http://schemas.openxmlformats.org/officeDocument/2006/relationships/font" Target="fonts/Font_2_Inter_Bold.fntdata"/><Relationship Id="rId11" Type="http://schemas.openxmlformats.org/officeDocument/2006/relationships/font" Target="fonts/Font_3_Inter_BoldItalic.fntdata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슬라이드를 이동하려면 클릭하십시오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&lt;머리글&gt;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6F6F0827-3298-45B0-BD76-121551CED88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F575A6-02DA-4E64-B4D2-F8C6197B7E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D8D46A-DB63-4DAC-B9E5-937B9EDCF81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33F172-A683-4E6E-9B0E-463F4C9ACD6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D7E231-A769-4204-A637-C29C3120CA8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A095F6-D0A6-4E40-8C35-ADB696EC944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제목 텍스트의 서식을 편집하려면 클릭하십시오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제목 텍스트의 서식을 편집하려면 클릭하십시오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제목 텍스트의 서식을 편집하려면 클릭하십시오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제목 텍스트의 서식을 편집하려면 클릭하십시오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0"/>
          <p:cNvSpPr/>
          <p:nvPr/>
        </p:nvSpPr>
        <p:spPr>
          <a:xfrm>
            <a:off x="6280200" y="3481560"/>
            <a:ext cx="644472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100"/>
              </a:lnSpc>
              <a:tabLst>
                <a:tab pos="0" algn="l"/>
              </a:tabLst>
            </a:pPr>
            <a:r>
              <a:rPr lang="ko-KR" sz="410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고객 이탈 예측 플랫폼 </a:t>
            </a:r>
            <a:r>
              <a:rPr lang="en-US" sz="410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Re:tain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Text 1"/>
          <p:cNvSpPr/>
          <p:nvPr/>
        </p:nvSpPr>
        <p:spPr>
          <a:xfrm>
            <a:off x="6280200" y="4430520"/>
            <a:ext cx="7556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데이터 기반 고객 유지 전략으로 이커머스의 미래를 만듭니다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793800" y="1461240"/>
            <a:ext cx="520956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100"/>
              </a:lnSpc>
              <a:tabLst>
                <a:tab pos="0" algn="l"/>
              </a:tabLst>
            </a:pPr>
            <a:r>
              <a:rPr lang="ko-KR" sz="4100" b="1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피처 엔지니어링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Text 1"/>
          <p:cNvSpPr/>
          <p:nvPr/>
        </p:nvSpPr>
        <p:spPr>
          <a:xfrm>
            <a:off x="793800" y="2509200"/>
            <a:ext cx="13042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EDA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기반 이탈 예측력 강화를 목적으로 함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Text 2"/>
          <p:cNvSpPr/>
          <p:nvPr/>
        </p:nvSpPr>
        <p:spPr>
          <a:xfrm>
            <a:off x="793800" y="3248280"/>
            <a:ext cx="31255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ko-KR" sz="2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행동 패턴 </a:t>
            </a:r>
            <a:r>
              <a:rPr lang="en-US" sz="2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(4</a:t>
            </a:r>
            <a:r>
              <a:rPr lang="ko-KR" sz="2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개</a:t>
            </a:r>
            <a:r>
              <a:rPr lang="en-US" sz="2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)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Text 3"/>
          <p:cNvSpPr/>
          <p:nvPr/>
        </p:nvSpPr>
        <p:spPr>
          <a:xfrm>
            <a:off x="793800" y="3837240"/>
            <a:ext cx="3979440" cy="14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Dormancy Shock: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평소 대비 주문 공백의 충격 지수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>
              <a:lnSpc>
                <a:spcPts val="25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Recency Tenure Ratio: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가입기간 대비 최근 공백 비중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>
              <a:lnSpc>
                <a:spcPts val="25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MonthlyOrderFreq: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월평균 주문 빈도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>
              <a:lnSpc>
                <a:spcPts val="25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Stagnant Loyal: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정체된 장기 고객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(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가입은 오래됬지만 활동은 평균이하인 고객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Text 4"/>
          <p:cNvSpPr/>
          <p:nvPr/>
        </p:nvSpPr>
        <p:spPr>
          <a:xfrm>
            <a:off x="5265360" y="3248280"/>
            <a:ext cx="31255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ko-KR" sz="2450" b="1" u="none" strike="noStrike">
                <a:solidFill>
                  <a:srgbClr val="AFCBF8"/>
                </a:solidFill>
                <a:effectLst/>
                <a:uFillTx/>
                <a:latin typeface="Petrona Bold"/>
                <a:ea typeface="Petrona Bold"/>
              </a:rPr>
              <a:t>만족도 </a:t>
            </a:r>
            <a:r>
              <a:rPr lang="en-US" sz="2450" b="1" u="none" strike="noStrike">
                <a:solidFill>
                  <a:srgbClr val="AFCBF8"/>
                </a:solidFill>
                <a:effectLst/>
                <a:uFillTx/>
                <a:latin typeface="Petrona Bold"/>
                <a:ea typeface="Petrona Bold"/>
              </a:rPr>
              <a:t>&amp; </a:t>
            </a:r>
            <a:r>
              <a:rPr lang="ko-KR" sz="2450" b="1" u="none" strike="noStrike">
                <a:solidFill>
                  <a:srgbClr val="AFCBF8"/>
                </a:solidFill>
                <a:effectLst/>
                <a:uFillTx/>
                <a:latin typeface="Petrona Bold"/>
                <a:ea typeface="Petrona Bold"/>
              </a:rPr>
              <a:t>경험 </a:t>
            </a:r>
            <a:r>
              <a:rPr lang="en-US" sz="2450" b="1" u="none" strike="noStrike">
                <a:solidFill>
                  <a:srgbClr val="AFCBF8"/>
                </a:solidFill>
                <a:effectLst/>
                <a:uFillTx/>
                <a:latin typeface="Petrona Bold"/>
                <a:ea typeface="Petrona Bold"/>
              </a:rPr>
              <a:t>(3</a:t>
            </a:r>
            <a:r>
              <a:rPr lang="ko-KR" sz="2450" b="1" u="none" strike="noStrike">
                <a:solidFill>
                  <a:srgbClr val="AFCBF8"/>
                </a:solidFill>
                <a:effectLst/>
                <a:uFillTx/>
                <a:latin typeface="Petrona Bold"/>
                <a:ea typeface="Petrona Bold"/>
              </a:rPr>
              <a:t>개</a:t>
            </a:r>
            <a:r>
              <a:rPr lang="en-US" sz="2450" b="1" u="none" strike="noStrike">
                <a:solidFill>
                  <a:srgbClr val="AFCBF8"/>
                </a:solidFill>
                <a:effectLst/>
                <a:uFillTx/>
                <a:latin typeface="Petrona Bold"/>
                <a:ea typeface="Petrona Bold"/>
              </a:rPr>
              <a:t>)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Text 5"/>
          <p:cNvSpPr/>
          <p:nvPr/>
        </p:nvSpPr>
        <p:spPr>
          <a:xfrm>
            <a:off x="5265360" y="3837240"/>
            <a:ext cx="3979440" cy="9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403C4E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Satisfaction_Per_Order: </a:t>
            </a:r>
            <a:r>
              <a:rPr lang="ko-KR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주문당 만족도 효율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>
              <a:lnSpc>
                <a:spcPts val="2500"/>
              </a:lnSpc>
              <a:buClr>
                <a:srgbClr val="403C4E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Silent Killer: </a:t>
            </a:r>
            <a:r>
              <a:rPr lang="ko-KR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조용한 이탈자</a:t>
            </a:r>
            <a:r>
              <a:rPr lang="en-US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(</a:t>
            </a:r>
            <a:r>
              <a:rPr lang="ko-KR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불만은 낮지만 만족도 낮음</a:t>
            </a:r>
            <a:r>
              <a:rPr lang="en-US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>
              <a:lnSpc>
                <a:spcPts val="2500"/>
              </a:lnSpc>
              <a:buClr>
                <a:srgbClr val="403C4E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IssueIndex: </a:t>
            </a:r>
            <a:r>
              <a:rPr lang="ko-KR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불만 제기 여부</a:t>
            </a:r>
            <a:r>
              <a:rPr lang="en-US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(</a:t>
            </a:r>
            <a:r>
              <a:rPr lang="ko-KR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명시적인 부정적 경험</a:t>
            </a:r>
            <a:r>
              <a:rPr lang="en-US" sz="1550" b="0" u="none" strike="noStrike">
                <a:solidFill>
                  <a:srgbClr val="403C4E"/>
                </a:solidFill>
                <a:effectLst/>
                <a:uFillTx/>
                <a:latin typeface="Inter"/>
                <a:ea typeface="Inter"/>
              </a:rPr>
              <a:t>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Text 6"/>
          <p:cNvSpPr/>
          <p:nvPr/>
        </p:nvSpPr>
        <p:spPr>
          <a:xfrm>
            <a:off x="9736560" y="3248280"/>
            <a:ext cx="31255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ko-KR" sz="2450" b="1" u="none" strike="noStrike">
                <a:solidFill>
                  <a:srgbClr val="204C8E"/>
                </a:solidFill>
                <a:effectLst/>
                <a:uFillTx/>
                <a:latin typeface="Petrona Bold"/>
                <a:ea typeface="Petrona Bold"/>
              </a:rPr>
              <a:t>가치 </a:t>
            </a:r>
            <a:r>
              <a:rPr lang="en-US" sz="2450" b="1" u="none" strike="noStrike">
                <a:solidFill>
                  <a:srgbClr val="204C8E"/>
                </a:solidFill>
                <a:effectLst/>
                <a:uFillTx/>
                <a:latin typeface="Petrona Bold"/>
                <a:ea typeface="Petrona Bold"/>
              </a:rPr>
              <a:t>&amp; </a:t>
            </a:r>
            <a:r>
              <a:rPr lang="ko-KR" sz="2450" b="1" u="none" strike="noStrike">
                <a:solidFill>
                  <a:srgbClr val="204C8E"/>
                </a:solidFill>
                <a:effectLst/>
                <a:uFillTx/>
                <a:latin typeface="Petrona Bold"/>
                <a:ea typeface="Petrona Bold"/>
              </a:rPr>
              <a:t>반응성 </a:t>
            </a:r>
            <a:r>
              <a:rPr lang="en-US" sz="2450" b="1" u="none" strike="noStrike">
                <a:solidFill>
                  <a:srgbClr val="204C8E"/>
                </a:solidFill>
                <a:effectLst/>
                <a:uFillTx/>
                <a:latin typeface="Petrona Bold"/>
                <a:ea typeface="Petrona Bold"/>
              </a:rPr>
              <a:t>(3</a:t>
            </a:r>
            <a:r>
              <a:rPr lang="ko-KR" sz="2450" b="1" u="none" strike="noStrike">
                <a:solidFill>
                  <a:srgbClr val="204C8E"/>
                </a:solidFill>
                <a:effectLst/>
                <a:uFillTx/>
                <a:latin typeface="Petrona Bold"/>
                <a:ea typeface="Petrona Bold"/>
              </a:rPr>
              <a:t>개</a:t>
            </a:r>
            <a:r>
              <a:rPr lang="en-US" sz="2450" b="1" u="none" strike="noStrike">
                <a:solidFill>
                  <a:srgbClr val="204C8E"/>
                </a:solidFill>
                <a:effectLst/>
                <a:uFillTx/>
                <a:latin typeface="Petrona Bold"/>
                <a:ea typeface="Petrona Bold"/>
              </a:rPr>
              <a:t>)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Text 7"/>
          <p:cNvSpPr/>
          <p:nvPr/>
        </p:nvSpPr>
        <p:spPr>
          <a:xfrm>
            <a:off x="9736560" y="3837240"/>
            <a:ext cx="4114800" cy="9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CashbackPerOrder: 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주문당 캐시백 체감도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>
              <a:lnSpc>
                <a:spcPts val="25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Promo_Sensitivity: 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프로모션 민감도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>
              <a:lnSpc>
                <a:spcPts val="25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ManyAddressesFlag: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배송지가 많음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(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헤비 유저 여부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Text 8"/>
          <p:cNvSpPr/>
          <p:nvPr/>
        </p:nvSpPr>
        <p:spPr>
          <a:xfrm>
            <a:off x="720000" y="5909760"/>
            <a:ext cx="31255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050"/>
              </a:lnSpc>
              <a:tabLst>
                <a:tab pos="0" algn="l"/>
              </a:tabLst>
            </a:pPr>
            <a:endParaRPr lang="en-US" sz="2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ts val="3050"/>
              </a:lnSpc>
              <a:tabLst>
                <a:tab pos="0" algn="l"/>
              </a:tabLst>
            </a:pPr>
            <a:endParaRPr lang="en-US" sz="2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ko-KR" sz="24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최종 처리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Text 9"/>
          <p:cNvSpPr/>
          <p:nvPr/>
        </p:nvSpPr>
        <p:spPr>
          <a:xfrm>
            <a:off x="720000" y="7200000"/>
            <a:ext cx="130424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101"/>
              </a:lnSpc>
              <a:tabLst>
                <a:tab pos="0" algn="l"/>
              </a:tabLst>
            </a:pPr>
            <a:r>
              <a:rPr lang="ko-KR" sz="1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카테고리 피처에 원</a:t>
            </a:r>
            <a:r>
              <a:rPr lang="en-US" sz="1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-</a:t>
            </a:r>
            <a:r>
              <a:rPr lang="ko-KR" sz="1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핫 인코딩 적용 → 불필요 컬럼 제거 → 최종 </a:t>
            </a:r>
            <a:r>
              <a:rPr lang="en-US" sz="1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24</a:t>
            </a:r>
            <a:r>
              <a:rPr lang="ko-KR" sz="1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개 피처로 모델 학습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793800" y="568440"/>
            <a:ext cx="520956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100"/>
              </a:lnSpc>
              <a:tabLst>
                <a:tab pos="0" algn="l"/>
              </a:tabLst>
            </a:pPr>
            <a:r>
              <a:rPr lang="ko-KR" sz="410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모델링 및 평가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793800" y="1616760"/>
            <a:ext cx="13042440" cy="6044040"/>
          </a:xfrm>
          <a:prstGeom prst="roundRect">
            <a:avLst>
              <a:gd name="adj" fmla="val 1379"/>
            </a:avLst>
          </a:prstGeom>
          <a:noFill/>
          <a:ln w="7620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801360" y="1624320"/>
            <a:ext cx="13027320" cy="5706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801720" y="1624320"/>
            <a:ext cx="2084040" cy="570600"/>
          </a:xfrm>
          <a:prstGeom prst="roundRect">
            <a:avLst>
              <a:gd name="adj" fmla="val 14601"/>
            </a:avLst>
          </a:prstGeom>
          <a:solidFill>
            <a:srgbClr val="007E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000080" y="1751040"/>
            <a:ext cx="1683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모델명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2886120" y="1624320"/>
            <a:ext cx="2573640" cy="570600"/>
          </a:xfrm>
          <a:prstGeom prst="rect">
            <a:avLst/>
          </a:prstGeom>
          <a:solidFill>
            <a:srgbClr val="007E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088080" y="1751040"/>
            <a:ext cx="2169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특장점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5460120" y="1624320"/>
            <a:ext cx="2629800" cy="570600"/>
          </a:xfrm>
          <a:prstGeom prst="rect">
            <a:avLst/>
          </a:prstGeom>
          <a:solidFill>
            <a:srgbClr val="007E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662440" y="1751040"/>
            <a:ext cx="222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사용 기법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8090280" y="1624320"/>
            <a:ext cx="5738040" cy="570600"/>
          </a:xfrm>
          <a:prstGeom prst="rect">
            <a:avLst/>
          </a:prstGeom>
          <a:solidFill>
            <a:srgbClr val="007E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292600" y="1751040"/>
            <a:ext cx="5337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하이퍼 파라미터 튜닝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801360" y="2195280"/>
            <a:ext cx="13027320" cy="128484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1000080" y="2322000"/>
            <a:ext cx="1683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Random Forest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3088080" y="2322000"/>
            <a:ext cx="2169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비선형 학습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,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안정적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5662440" y="2322000"/>
            <a:ext cx="222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Manual Search CV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8292600" y="2322000"/>
            <a:ext cx="5337720" cy="1031400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8282880" y="2322000"/>
            <a:ext cx="5357520" cy="1031400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8530560" y="2520360"/>
            <a:ext cx="48614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Consolas"/>
                <a:ea typeface="Consolas"/>
              </a:rPr>
              <a:t>n_estimators=100, max_depth=12, class_weight='balanced', random_state=42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801360" y="3480480"/>
            <a:ext cx="13027320" cy="12848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1000080" y="3606840"/>
            <a:ext cx="1683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XGBoost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3088080" y="3606840"/>
            <a:ext cx="2169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최고 정확도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,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정규화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5662440" y="3606840"/>
            <a:ext cx="222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Grid Search CV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Shape 22"/>
          <p:cNvSpPr/>
          <p:nvPr/>
        </p:nvSpPr>
        <p:spPr>
          <a:xfrm>
            <a:off x="8292600" y="3606840"/>
            <a:ext cx="5337720" cy="1031400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" name="Shape 23"/>
          <p:cNvSpPr/>
          <p:nvPr/>
        </p:nvSpPr>
        <p:spPr>
          <a:xfrm>
            <a:off x="8282880" y="3606840"/>
            <a:ext cx="5357520" cy="1031400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8530560" y="3805200"/>
            <a:ext cx="48614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Consolas"/>
                <a:ea typeface="Consolas"/>
              </a:rPr>
              <a:t>colsample_bytree= 0.9, learning_rate= 0.1, max_depth= 5, n_estimators= 300, subsample= 0.9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Shape 25"/>
          <p:cNvSpPr/>
          <p:nvPr/>
        </p:nvSpPr>
        <p:spPr>
          <a:xfrm>
            <a:off x="801360" y="4765320"/>
            <a:ext cx="13027320" cy="16023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Text 26"/>
          <p:cNvSpPr/>
          <p:nvPr/>
        </p:nvSpPr>
        <p:spPr>
          <a:xfrm>
            <a:off x="1000080" y="4892040"/>
            <a:ext cx="1683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LightGBM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Text 27"/>
          <p:cNvSpPr/>
          <p:nvPr/>
        </p:nvSpPr>
        <p:spPr>
          <a:xfrm>
            <a:off x="3088080" y="4892040"/>
            <a:ext cx="2169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빠른 학습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,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메모리 효율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Text 28"/>
          <p:cNvSpPr/>
          <p:nvPr/>
        </p:nvSpPr>
        <p:spPr>
          <a:xfrm>
            <a:off x="5662440" y="4892040"/>
            <a:ext cx="222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Bayesian Search CV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" name="Shape 29"/>
          <p:cNvSpPr/>
          <p:nvPr/>
        </p:nvSpPr>
        <p:spPr>
          <a:xfrm>
            <a:off x="8292600" y="4892040"/>
            <a:ext cx="5337720" cy="1348920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Shape 30"/>
          <p:cNvSpPr/>
          <p:nvPr/>
        </p:nvSpPr>
        <p:spPr>
          <a:xfrm>
            <a:off x="8282880" y="4892040"/>
            <a:ext cx="5357520" cy="134892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Text 31"/>
          <p:cNvSpPr/>
          <p:nvPr/>
        </p:nvSpPr>
        <p:spPr>
          <a:xfrm>
            <a:off x="8530560" y="5090400"/>
            <a:ext cx="48614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Consolas"/>
                <a:ea typeface="Consolas"/>
              </a:rPr>
              <a:t>max_depth= 5, min_samples_split= 4, criterion= 'entropy', max_leaf_nodes= 9, n_estimators= 460, learning_rate= 0.0811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Shape 32"/>
          <p:cNvSpPr/>
          <p:nvPr/>
        </p:nvSpPr>
        <p:spPr>
          <a:xfrm>
            <a:off x="801360" y="6368040"/>
            <a:ext cx="13027320" cy="12848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Text 33"/>
          <p:cNvSpPr/>
          <p:nvPr/>
        </p:nvSpPr>
        <p:spPr>
          <a:xfrm>
            <a:off x="1000080" y="6494760"/>
            <a:ext cx="16833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Multilayer Perceptron(MLP)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Text 34"/>
          <p:cNvSpPr/>
          <p:nvPr/>
        </p:nvSpPr>
        <p:spPr>
          <a:xfrm>
            <a:off x="3088080" y="6494760"/>
            <a:ext cx="2169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배포 용이</a:t>
            </a: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, </a:t>
            </a:r>
            <a:r>
              <a:rPr lang="ko-KR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실시간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Text 35"/>
          <p:cNvSpPr/>
          <p:nvPr/>
        </p:nvSpPr>
        <p:spPr>
          <a:xfrm>
            <a:off x="5662440" y="6494760"/>
            <a:ext cx="222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Standard Scaler,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Text 36"/>
          <p:cNvSpPr/>
          <p:nvPr/>
        </p:nvSpPr>
        <p:spPr>
          <a:xfrm>
            <a:off x="5662440" y="6931440"/>
            <a:ext cx="222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Grid Search CV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Shape 37"/>
          <p:cNvSpPr/>
          <p:nvPr/>
        </p:nvSpPr>
        <p:spPr>
          <a:xfrm>
            <a:off x="8292600" y="6494760"/>
            <a:ext cx="5337720" cy="1031400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Shape 38"/>
          <p:cNvSpPr/>
          <p:nvPr/>
        </p:nvSpPr>
        <p:spPr>
          <a:xfrm>
            <a:off x="8282880" y="6494760"/>
            <a:ext cx="5357520" cy="1031400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Text 39"/>
          <p:cNvSpPr/>
          <p:nvPr/>
        </p:nvSpPr>
        <p:spPr>
          <a:xfrm>
            <a:off x="8530560" y="6693120"/>
            <a:ext cx="48614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Consolas"/>
                <a:ea typeface="Consolas"/>
              </a:rPr>
              <a:t>alpha=0.0001, 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72525"/>
                </a:solidFill>
                <a:effectLst/>
                <a:uFillTx/>
                <a:latin typeface="Consolas"/>
                <a:ea typeface="Consolas"/>
              </a:rPr>
              <a:t>hidden_layer_sizes=(50, 50), learning_rate_init=0.01 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2585520" y="546120"/>
            <a:ext cx="4580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ko-KR" sz="24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혼동행렬</a:t>
            </a:r>
            <a:r>
              <a:rPr lang="en-US" sz="24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(Confusion Matrix) </a:t>
            </a:r>
            <a:r>
              <a:rPr lang="ko-KR" sz="24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비교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2585520" y="1129680"/>
            <a:ext cx="3312720" cy="270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1"/>
          <p:cNvSpPr/>
          <p:nvPr/>
        </p:nvSpPr>
        <p:spPr>
          <a:xfrm>
            <a:off x="2585520" y="3918960"/>
            <a:ext cx="18889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LightGBM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7468920" y="1129680"/>
            <a:ext cx="3221280" cy="271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"/>
          <p:cNvSpPr/>
          <p:nvPr/>
        </p:nvSpPr>
        <p:spPr>
          <a:xfrm>
            <a:off x="7468920" y="3928680"/>
            <a:ext cx="18889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MLP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89" name="Image 2" descr="preencoded.png"/>
          <p:cNvPicPr/>
          <p:nvPr/>
        </p:nvPicPr>
        <p:blipFill>
          <a:blip r:embed="rId3"/>
          <a:stretch/>
        </p:blipFill>
        <p:spPr>
          <a:xfrm>
            <a:off x="2585520" y="4400280"/>
            <a:ext cx="3350520" cy="284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3"/>
          <p:cNvSpPr/>
          <p:nvPr/>
        </p:nvSpPr>
        <p:spPr>
          <a:xfrm>
            <a:off x="2585520" y="7331400"/>
            <a:ext cx="18889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XGBoost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1" name="Image 3" descr="preencoded.png"/>
          <p:cNvPicPr/>
          <p:nvPr/>
        </p:nvPicPr>
        <p:blipFill>
          <a:blip r:embed="rId4"/>
          <a:stretch/>
        </p:blipFill>
        <p:spPr>
          <a:xfrm>
            <a:off x="7468920" y="4400280"/>
            <a:ext cx="3282120" cy="28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7468920" y="7374960"/>
            <a:ext cx="18889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Random Forest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2153520" y="682920"/>
            <a:ext cx="39254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351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팀원 모델링 비교</a:t>
            </a: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: AUC </a:t>
            </a:r>
            <a:r>
              <a:rPr lang="ko-KR" sz="270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성능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4" name="Image 0" descr="preencoded.png"/>
          <p:cNvPicPr/>
          <p:nvPr/>
        </p:nvPicPr>
        <p:blipFill>
          <a:blip r:embed="rId1"/>
          <a:stretch/>
        </p:blipFill>
        <p:spPr>
          <a:xfrm>
            <a:off x="2153520" y="1284840"/>
            <a:ext cx="10324800" cy="58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1"/>
          <p:cNvSpPr/>
          <p:nvPr/>
        </p:nvSpPr>
        <p:spPr>
          <a:xfrm>
            <a:off x="12064680" y="2028600"/>
            <a:ext cx="166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0600" tIns="30600" rIns="30600" bIns="30600" anchor="t">
            <a:noAutofit/>
          </a:bodyPr>
          <a:p>
            <a:pPr>
              <a:lnSpc>
                <a:spcPts val="649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FFFFFF"/>
                </a:solidFill>
                <a:effectLst/>
                <a:uFillTx/>
                <a:latin typeface="-apple-system, BlinkMacSystemFont, Segoe UI, Roboto, Helvetica Neue, Arial, sans-serif Medium"/>
                <a:ea typeface="-apple-system, BlinkMacSystemFont, Segoe UI, Roboto, Helvetica Neue, Arial, sans-serif Medium"/>
              </a:rPr>
              <a:t>1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1671200" y="3271680"/>
            <a:ext cx="37764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0600" tIns="30600" rIns="30600" bIns="30600" anchor="t">
            <a:noAutofit/>
          </a:bodyPr>
          <a:p>
            <a:pPr>
              <a:lnSpc>
                <a:spcPts val="649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000000"/>
                </a:solidFill>
                <a:effectLst/>
                <a:uFillTx/>
                <a:latin typeface="-apple-system, BlinkMacSystemFont, Segoe UI, Roboto, Helvetica Neue, Arial, sans-serif Medium"/>
                <a:ea typeface="-apple-system, BlinkMacSystemFont, Segoe UI, Roboto, Helvetica Neue, Arial, sans-serif Medium"/>
              </a:rPr>
              <a:t>0.98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Text 3"/>
          <p:cNvSpPr/>
          <p:nvPr/>
        </p:nvSpPr>
        <p:spPr>
          <a:xfrm>
            <a:off x="11619000" y="4514760"/>
            <a:ext cx="37764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0600" tIns="30600" rIns="30600" bIns="30600" anchor="t">
            <a:noAutofit/>
          </a:bodyPr>
          <a:p>
            <a:pPr>
              <a:lnSpc>
                <a:spcPts val="649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000000"/>
                </a:solidFill>
                <a:effectLst/>
                <a:uFillTx/>
                <a:latin typeface="-apple-system, BlinkMacSystemFont, Segoe UI, Roboto, Helvetica Neue, Arial, sans-serif Medium"/>
                <a:ea typeface="-apple-system, BlinkMacSystemFont, Segoe UI, Roboto, Helvetica Neue, Arial, sans-serif Medium"/>
              </a:rPr>
              <a:t>0.97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1133720" y="5757840"/>
            <a:ext cx="2923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0600" tIns="30600" rIns="30600" bIns="30600" anchor="t">
            <a:noAutofit/>
          </a:bodyPr>
          <a:p>
            <a:pPr>
              <a:lnSpc>
                <a:spcPts val="649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000000"/>
                </a:solidFill>
                <a:effectLst/>
                <a:uFillTx/>
                <a:latin typeface="-apple-system, BlinkMacSystemFont, Segoe UI, Roboto, Helvetica Neue, Arial, sans-serif Medium"/>
                <a:ea typeface="-apple-system, BlinkMacSystemFont, Segoe UI, Roboto, Helvetica Neue, Arial, sans-serif Medium"/>
              </a:rPr>
              <a:t>0.9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Text 5"/>
          <p:cNvSpPr/>
          <p:nvPr/>
        </p:nvSpPr>
        <p:spPr>
          <a:xfrm>
            <a:off x="2153520" y="7195680"/>
            <a:ext cx="5086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✓ </a:t>
            </a:r>
            <a:r>
              <a:rPr lang="en-US" sz="21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XGBoost</a:t>
            </a: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 | </a:t>
            </a:r>
            <a:r>
              <a:rPr lang="en-US" sz="21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0.995 AUC</a:t>
            </a: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 | </a:t>
            </a:r>
            <a:r>
              <a:rPr lang="ko-KR" sz="2150" b="1" u="none" strike="noStrike">
                <a:solidFill>
                  <a:srgbClr val="007EBD"/>
                </a:solidFill>
                <a:effectLst/>
                <a:uFillTx/>
                <a:latin typeface="Petrona Bold"/>
                <a:ea typeface="Petrona Bold"/>
              </a:rPr>
              <a:t>최종 선택 모델</a:t>
            </a: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Petrona Bold"/>
                <a:ea typeface="Petrona Bold"/>
              </a:rPr>
              <a:t> ⭐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LibreOffice/26.2.0.3$Windows_X86_64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2026-04-01T14:25:20Z</dcterms:created>
  <dc:creator/>
  <dc:description/>
  <dc:language>ko-KR</dc:language>
  <cp:lastModifiedBy/>
  <dcterms:modified xsi:type="dcterms:W3CDTF">2026-04-02T00:15:50Z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